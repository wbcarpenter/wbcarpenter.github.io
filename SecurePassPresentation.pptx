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3" r:id="rId1"/>
  </p:sldMasterIdLst>
  <p:notesMasterIdLst>
    <p:notesMasterId r:id="rId14"/>
  </p:notesMasterIdLst>
  <p:handoutMasterIdLst>
    <p:handoutMasterId r:id="rId1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87" d="100"/>
          <a:sy n="87" d="100"/>
        </p:scale>
        <p:origin x="48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0A4E17-7827-0D59-1E86-9923A98BA88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2B879F-E6C1-D306-05CC-5782BDCB3C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44046C-EF10-4B59-B4E7-8DC889B4A83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61FFDF-0336-1920-8F01-56CDDA16658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2F022F-9B14-2089-5B94-903012544DF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C7CCD8-12D6-4D41-9006-8B8BF5D29E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92430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0145E7-B66D-4946-A0AF-80F6A88D916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7E8CA-9AD2-4E91-BF9A-88E4C59D92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44175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“Hi, my name is Whitney Carpenter, and this is my Honors Senior Project, SecurePass. It’s a Chrome extension designed to help users create stronger, more secure passwords through real-time feedback and educational insights.”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5284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“Weak passwords are one of the most common causes of security breaches. In fact, around 80% of hacking-related breaches involve compromised credentials.</a:t>
            </a:r>
          </a:p>
          <a:p>
            <a:r>
              <a:rPr lang="en-US" dirty="0"/>
              <a:t>The goal of SecurePass is to help users create stronger passwords by giving immediate feedback as they type, while also keeping everything local so no sensitive data is ever transmitted.”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0789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“I’ve always been interested in cybersecurity, especially how small user decisions can lead to major vulnerabilities.</a:t>
            </a:r>
          </a:p>
          <a:p>
            <a:r>
              <a:rPr lang="en-US" dirty="0"/>
              <a:t>Passwords are something everyone uses, but most people don’t fully understand what makes them secure. I wanted to build something that not only evaluates passwords, but actually helps users learn and improve.</a:t>
            </a:r>
          </a:p>
          <a:p>
            <a:r>
              <a:rPr lang="en-US" dirty="0"/>
              <a:t>That’s where SecurePass came from—combining security with usability.”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267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“As an honors project, this went beyond a typical classroom assignment.</a:t>
            </a:r>
          </a:p>
          <a:p>
            <a:r>
              <a:rPr lang="en-US" dirty="0"/>
              <a:t>I was required to prepare the extension for real-world deployment, including packaging it for the Chrome Web Store and ensuring it met security and privacy standards.</a:t>
            </a:r>
          </a:p>
          <a:p>
            <a:r>
              <a:rPr lang="en-US" dirty="0"/>
              <a:t>This involved many challenges.”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950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“The extension is built using a modular architecture.</a:t>
            </a:r>
          </a:p>
          <a:p>
            <a:r>
              <a:rPr lang="en-US" dirty="0"/>
              <a:t>A content script detects password fields and injects the UI, while the popup handles the password evaluation logic.</a:t>
            </a:r>
          </a:p>
          <a:p>
            <a:r>
              <a:rPr lang="en-US" dirty="0"/>
              <a:t>Password strength is calculated using both rule-based scoring and entropy.</a:t>
            </a:r>
          </a:p>
          <a:p>
            <a:r>
              <a:rPr lang="en-US" dirty="0"/>
              <a:t>All processing happens locally, and passwords are hashed using SHA-256, ensuring no sensitive data is stored or transmitted.”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8989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“Some key features include real-time feedback, entropy-based scoring, and actionable suggestions.</a:t>
            </a:r>
          </a:p>
          <a:p>
            <a:r>
              <a:rPr lang="en-US" dirty="0"/>
              <a:t>One important aspect is the educational component—users aren’t just given a score, they’re told why and how to improve.</a:t>
            </a:r>
          </a:p>
          <a:p>
            <a:r>
              <a:rPr lang="en-US" dirty="0"/>
              <a:t>And everything is done locally for privacy.”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9444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“One of the biggest challenges was designing a secure history feature.</a:t>
            </a:r>
          </a:p>
          <a:p>
            <a:r>
              <a:rPr lang="en-US" dirty="0"/>
              <a:t>I had to balance usability with security, and ultimately used hashing so that no plaintext passwords were stored.</a:t>
            </a:r>
          </a:p>
          <a:p>
            <a:r>
              <a:rPr lang="en-US" dirty="0"/>
              <a:t>Another challenge was handling modern websites that dynamically load content, which I solved using a </a:t>
            </a:r>
            <a:r>
              <a:rPr lang="en-US" dirty="0" err="1"/>
              <a:t>MutationObserver</a:t>
            </a:r>
            <a:r>
              <a:rPr lang="en-US" dirty="0"/>
              <a:t>.</a:t>
            </a:r>
          </a:p>
          <a:p>
            <a:r>
              <a:rPr lang="en-US" dirty="0"/>
              <a:t>Preparing the extension for Chrome deployment also introduced additional constraints and validation requirements.”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2810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“I decided to use unit tests and acceptance testing for this project, which included 6 users. All unit tests passed successfully, and user testing showed that all participants understood the feedback provided.</a:t>
            </a:r>
          </a:p>
          <a:p>
            <a:r>
              <a:rPr lang="en-US" dirty="0"/>
              <a:t>The extension consistently responded in under two seconds and generated no network activity, confirming that all processing is local.</a:t>
            </a:r>
          </a:p>
          <a:p>
            <a:r>
              <a:rPr lang="en-US" dirty="0"/>
              <a:t>This also demonstrates that the educational requirement was successfully met.”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5106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“In the future, this could be expanded with more advanced password analysis techniques, support for other browsers, and additional user controls for history.</a:t>
            </a:r>
          </a:p>
          <a:p>
            <a:r>
              <a:rPr lang="en-US" dirty="0"/>
              <a:t>It could also integrate with breach databases or recommend password managers.”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7912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“Overall, SecurePass helps users create stronger passwords, improves their understanding of security, and does so in a privacy-focused way.</a:t>
            </a:r>
          </a:p>
          <a:p>
            <a:r>
              <a:rPr lang="en-US" dirty="0"/>
              <a:t>It’s designed to be both practical and ready for real-world use.”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446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1F917-F1D2-4368-B437-39ED0419D90A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96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AB8F2-353A-4328-902B-9B06FEE5C754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540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487AD-62F7-470B-B759-97972E7321D1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032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1FF32-A5EB-4C32-8C2B-8EEDFC04D47B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949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EBAB30-FBA6-42BA-A32F-C0FE7795CA04}" type="datetime1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687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C0BD7-C524-41AC-85A7-2FDDB158F708}" type="datetime1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456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ABA9B-7E3B-4598-B288-B25DC329D124}" type="datetime1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792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1C246-3509-4124-8406-573BEC556487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989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B7CE8-0FD0-4622-A7A3-6D131820354D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442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7D1D5-455E-457D-8D0F-6A8C6C817D3C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758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EB783-BD1D-45B1-B1CF-F6BB17103F6A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42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0B3907D-BD88-4643-B5C3-64FBDE2F82C2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275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56" r:id="rId6"/>
    <p:sldLayoutId id="2147483752" r:id="rId7"/>
    <p:sldLayoutId id="2147483753" r:id="rId8"/>
    <p:sldLayoutId id="2147483754" r:id="rId9"/>
    <p:sldLayoutId id="2147483755" r:id="rId10"/>
    <p:sldLayoutId id="2147483757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A875D55-4A80-43E9-38F6-27E36649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0245BFE-D3C4-1821-362F-A70B286EB52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0000"/>
          </a:blip>
          <a:srcRect b="19929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6CCE066-44F9-F190-937B-AAD579EE23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US" sz="5400">
                <a:solidFill>
                  <a:srgbClr val="FFFFFF"/>
                </a:solidFill>
                <a:latin typeface="Amasis MT Pro Black" panose="020F0502020204030204" pitchFamily="18" charset="0"/>
              </a:rPr>
              <a:t>SecurePass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2E98EA-7FB7-3340-E916-14533A997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741449"/>
          </a:xfrm>
        </p:spPr>
        <p:txBody>
          <a:bodyPr>
            <a:normAutofit fontScale="92500" lnSpcReduction="20000"/>
          </a:bodyPr>
          <a:lstStyle/>
          <a:p>
            <a:r>
              <a:rPr lang="en-US" sz="2200" dirty="0">
                <a:solidFill>
                  <a:srgbClr val="FFFFFF"/>
                </a:solidFill>
              </a:rPr>
              <a:t>Honors Senior Project</a:t>
            </a:r>
          </a:p>
          <a:p>
            <a:r>
              <a:rPr lang="en-US" sz="2200" dirty="0">
                <a:solidFill>
                  <a:srgbClr val="FFFFFF"/>
                </a:solidFill>
              </a:rPr>
              <a:t>Whitney Carpenter</a:t>
            </a:r>
          </a:p>
          <a:p>
            <a:r>
              <a:rPr lang="en-US" sz="2200" dirty="0">
                <a:solidFill>
                  <a:srgbClr val="FFFFFF"/>
                </a:solidFill>
              </a:rPr>
              <a:t>Bachelor of Science in Cybersecurity</a:t>
            </a:r>
          </a:p>
          <a:p>
            <a:r>
              <a:rPr lang="en-US" sz="2200" dirty="0">
                <a:solidFill>
                  <a:srgbClr val="FFFFFF"/>
                </a:solidFill>
              </a:rPr>
              <a:t>CSCI 499 | Dr. Hayes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A22CEA-F89F-A47C-8738-32FD96AEF29C}"/>
              </a:ext>
            </a:extLst>
          </p:cNvPr>
          <p:cNvSpPr txBox="1"/>
          <p:nvPr/>
        </p:nvSpPr>
        <p:spPr>
          <a:xfrm>
            <a:off x="5497919" y="6480037"/>
            <a:ext cx="1196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April 24,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EE24C-B287-6A06-FF08-E06949B33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1775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10863-6DAE-AD5F-3B64-8D6B30534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Statement of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BC087-4075-C3EE-C408-82A4AFAD17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Weak passwords </a:t>
            </a:r>
            <a:r>
              <a:rPr lang="en-US" sz="2400" dirty="0">
                <a:solidFill>
                  <a:schemeClr val="bg1"/>
                </a:solidFill>
                <a:sym typeface="Wingdings" panose="05000000000000000000" pitchFamily="2" charset="2"/>
              </a:rPr>
              <a:t> major security risk</a:t>
            </a:r>
          </a:p>
          <a:p>
            <a:r>
              <a:rPr lang="en-US" sz="2400" dirty="0">
                <a:solidFill>
                  <a:schemeClr val="bg1"/>
                </a:solidFill>
                <a:sym typeface="Wingdings" panose="05000000000000000000" pitchFamily="2" charset="2"/>
              </a:rPr>
              <a:t>81% of breaches involve weak/compromised passwords</a:t>
            </a:r>
          </a:p>
          <a:p>
            <a:r>
              <a:rPr lang="en-US" sz="2400" dirty="0">
                <a:solidFill>
                  <a:schemeClr val="bg1"/>
                </a:solidFill>
                <a:sym typeface="Wingdings" panose="05000000000000000000" pitchFamily="2" charset="2"/>
              </a:rPr>
              <a:t>Goal: Help users create stronger passwords in real time</a:t>
            </a:r>
          </a:p>
          <a:p>
            <a:r>
              <a:rPr lang="en-US" sz="2400" dirty="0">
                <a:solidFill>
                  <a:schemeClr val="bg1"/>
                </a:solidFill>
                <a:sym typeface="Wingdings" panose="05000000000000000000" pitchFamily="2" charset="2"/>
              </a:rPr>
              <a:t>Local, privacy-focused evaluation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0048CC-42A1-811B-FDC9-30F059E5F1F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3D85EC-630B-9C37-27AD-6FC4AE8F8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  <a:fld id="{CC057153-B650-4DEB-B370-79DDCFDCE934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3063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2EC33A-7C67-0492-3062-48533CC29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2822216-969B-92E3-15BD-698C4D17C87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44831"/>
            <a:ext cx="12192000" cy="21732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7BF6B1-28FF-125D-F160-754578EFE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My “Why”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D1ED4-7306-39B9-8221-8976B96CF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Interest in cybersecurity</a:t>
            </a:r>
          </a:p>
          <a:p>
            <a:r>
              <a:rPr lang="en-US" sz="2800" dirty="0">
                <a:solidFill>
                  <a:schemeClr val="bg1"/>
                </a:solidFill>
              </a:rPr>
              <a:t>Passion for protecting users</a:t>
            </a:r>
          </a:p>
          <a:p>
            <a:r>
              <a:rPr lang="en-US" sz="2800" dirty="0">
                <a:solidFill>
                  <a:schemeClr val="bg1"/>
                </a:solidFill>
              </a:rPr>
              <a:t>Real-world relevance</a:t>
            </a:r>
          </a:p>
          <a:p>
            <a:r>
              <a:rPr lang="en-US" sz="2800" dirty="0">
                <a:solidFill>
                  <a:schemeClr val="bg1"/>
                </a:solidFill>
              </a:rPr>
              <a:t>Combines security &amp; usability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AD846C-70CF-5FCF-A060-CDBA11827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  <a:fld id="{CC057153-B650-4DEB-B370-79DDCFDCE934}" type="slidenum">
              <a:rPr lang="en-US" smtClean="0"/>
              <a:pPr/>
              <a:t>3</a:t>
            </a:fld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666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C058DB-F21D-FA19-01D3-535C7023E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AF2D0-CD95-B90A-895A-4F45B103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Honors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2DB56-BC9B-5FCD-C0C4-EFA8B32C9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Enhanced as an Honors Capstone Project</a:t>
            </a:r>
          </a:p>
          <a:p>
            <a:r>
              <a:rPr lang="en-US" sz="2800" dirty="0">
                <a:solidFill>
                  <a:schemeClr val="bg1"/>
                </a:solidFill>
              </a:rPr>
              <a:t>Required real-world deployment</a:t>
            </a:r>
          </a:p>
          <a:p>
            <a:r>
              <a:rPr lang="en-US" sz="2800" dirty="0">
                <a:solidFill>
                  <a:schemeClr val="bg1"/>
                </a:solidFill>
              </a:rPr>
              <a:t>Chrome Web Store preparation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27258A-A050-413E-1A64-271FCCE29C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B41E0A-D384-11D4-20B5-B223041B7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4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5729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943F04-A353-5F9A-18EB-E5DCCBAA8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0AC5B-BC5C-BF55-0DCB-395466339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088" y="3050177"/>
            <a:ext cx="3485823" cy="757646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Live Demo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E45A23-716B-48D8-8C04-0C2D35F4617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C9931D-313D-833A-99E0-C528115B1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5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52952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4C6734-A663-710A-659E-C39C0AF24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E264DA-BD7F-3877-C4FD-A3FA6A874E0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8A5091-9F0F-08C0-02A6-55651B280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E9B40-18E5-F72D-34AF-ACEA1CAB6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Chrome Extension (Manifest V3)</a:t>
            </a:r>
          </a:p>
          <a:p>
            <a:r>
              <a:rPr lang="en-US" sz="2400" dirty="0">
                <a:solidFill>
                  <a:schemeClr val="bg1"/>
                </a:solidFill>
              </a:rPr>
              <a:t>JavaScript, HTML, CSS</a:t>
            </a:r>
          </a:p>
          <a:p>
            <a:r>
              <a:rPr lang="en-US" sz="2400" dirty="0">
                <a:solidFill>
                  <a:schemeClr val="bg1"/>
                </a:solidFill>
              </a:rPr>
              <a:t>Key components:</a:t>
            </a:r>
          </a:p>
          <a:p>
            <a:pPr lvl="1"/>
            <a:r>
              <a:rPr lang="en-US" sz="2400" dirty="0">
                <a:solidFill>
                  <a:schemeClr val="bg1"/>
                </a:solidFill>
              </a:rPr>
              <a:t>Content script (field detection)</a:t>
            </a:r>
          </a:p>
          <a:p>
            <a:pPr lvl="1"/>
            <a:r>
              <a:rPr lang="en-US" sz="2400" dirty="0">
                <a:solidFill>
                  <a:schemeClr val="bg1"/>
                </a:solidFill>
              </a:rPr>
              <a:t>Popup (evaluation logic)</a:t>
            </a:r>
          </a:p>
          <a:p>
            <a:pPr lvl="1"/>
            <a:r>
              <a:rPr lang="en-US" sz="2400" dirty="0">
                <a:solidFill>
                  <a:schemeClr val="bg1"/>
                </a:solidFill>
              </a:rPr>
              <a:t>SHA-256 hashing</a:t>
            </a:r>
          </a:p>
          <a:p>
            <a:r>
              <a:rPr lang="en-US" sz="2400" dirty="0">
                <a:solidFill>
                  <a:schemeClr val="bg1"/>
                </a:solidFill>
              </a:rPr>
              <a:t>Local processing only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1194D8-2EEB-214F-8544-F620F27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6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2217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60DD7-D43C-E1C9-1C10-E8C6F27A1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BFF411-2A74-354C-17B8-EC4B4DCEF8F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F3458C-F24E-9EC6-CBEE-CCEE69703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6AB89-4912-68E2-9B7D-D2C9011D7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Real-time feedback</a:t>
            </a:r>
          </a:p>
          <a:p>
            <a:r>
              <a:rPr lang="en-US" sz="2800" dirty="0">
                <a:solidFill>
                  <a:schemeClr val="bg1"/>
                </a:solidFill>
              </a:rPr>
              <a:t>Entropy-based evaluation</a:t>
            </a:r>
          </a:p>
          <a:p>
            <a:r>
              <a:rPr lang="en-US" sz="2800" dirty="0">
                <a:solidFill>
                  <a:schemeClr val="bg1"/>
                </a:solidFill>
              </a:rPr>
              <a:t>Actionable suggestions</a:t>
            </a:r>
          </a:p>
          <a:p>
            <a:r>
              <a:rPr lang="en-US" sz="2800" dirty="0">
                <a:solidFill>
                  <a:schemeClr val="bg1"/>
                </a:solidFill>
              </a:rPr>
              <a:t>Educational insights</a:t>
            </a:r>
          </a:p>
          <a:p>
            <a:r>
              <a:rPr lang="en-US" sz="2800" dirty="0">
                <a:solidFill>
                  <a:schemeClr val="bg1"/>
                </a:solidFill>
              </a:rPr>
              <a:t>Fully local (privacy-focused)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0EC69-DDCA-467A-9E3C-68C8E3152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7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18033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7634FA-CA6D-94FD-3E08-40B666A69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B774D-976C-4CFC-70B5-DE5EAA02B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Challenges Overcome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1F361-1C31-01B2-76E3-00A5A18BE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Secure password history (hashing vs plaintext)</a:t>
            </a:r>
          </a:p>
          <a:p>
            <a:r>
              <a:rPr lang="en-US" sz="2800" dirty="0">
                <a:solidFill>
                  <a:schemeClr val="bg1"/>
                </a:solidFill>
              </a:rPr>
              <a:t>Dynamic websites (</a:t>
            </a:r>
            <a:r>
              <a:rPr lang="en-US" sz="2800" dirty="0" err="1">
                <a:solidFill>
                  <a:schemeClr val="bg1"/>
                </a:solidFill>
              </a:rPr>
              <a:t>MutationObserver</a:t>
            </a:r>
            <a:r>
              <a:rPr lang="en-US" sz="2800" dirty="0">
                <a:solidFill>
                  <a:schemeClr val="bg1"/>
                </a:solidFill>
              </a:rPr>
              <a:t>)</a:t>
            </a:r>
          </a:p>
          <a:p>
            <a:r>
              <a:rPr lang="en-US" sz="2800" dirty="0">
                <a:solidFill>
                  <a:schemeClr val="bg1"/>
                </a:solidFill>
              </a:rPr>
              <a:t>Chrome deployment requirements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552541-EE0E-C4D1-D47B-58C1988605C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19E8BB-201D-FA51-FAD9-83FAD9E5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8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2187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9D611B-A9C0-EC0B-65CD-763E24445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F391-AA97-92B7-98C8-540E78BA7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Test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82327-1071-A6C4-E409-E390AF341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100% of unit tests passed</a:t>
            </a:r>
          </a:p>
          <a:p>
            <a:r>
              <a:rPr lang="en-US" sz="2800" dirty="0">
                <a:solidFill>
                  <a:schemeClr val="bg1"/>
                </a:solidFill>
              </a:rPr>
              <a:t>6/6 users understood feedback</a:t>
            </a:r>
          </a:p>
          <a:p>
            <a:r>
              <a:rPr lang="en-US" sz="2800" dirty="0">
                <a:solidFill>
                  <a:schemeClr val="bg1"/>
                </a:solidFill>
              </a:rPr>
              <a:t>&lt;2 second response time</a:t>
            </a:r>
          </a:p>
          <a:p>
            <a:r>
              <a:rPr lang="en-US" sz="2800" dirty="0">
                <a:solidFill>
                  <a:schemeClr val="bg1"/>
                </a:solidFill>
              </a:rPr>
              <a:t>No network activity detected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F4BFC9-08A2-73AA-7E75-7F918F01D31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709F68-7FBE-740C-896A-E529CB779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9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1596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1DA3AE-5E0A-D44C-5E13-21795D6C5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952E4-43E3-BF84-0C8C-9771F9289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Future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48C90F-BAA6-9F0F-0A42-6D124190F4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Advanced password analysis</a:t>
            </a:r>
          </a:p>
          <a:p>
            <a:r>
              <a:rPr lang="en-US" sz="2800" dirty="0">
                <a:solidFill>
                  <a:schemeClr val="bg1"/>
                </a:solidFill>
              </a:rPr>
              <a:t>Cross-browser support</a:t>
            </a:r>
          </a:p>
          <a:p>
            <a:r>
              <a:rPr lang="en-US" sz="2800" dirty="0">
                <a:solidFill>
                  <a:schemeClr val="bg1"/>
                </a:solidFill>
              </a:rPr>
              <a:t>Optional history controls</a:t>
            </a:r>
          </a:p>
          <a:p>
            <a:r>
              <a:rPr lang="en-US" sz="2800" dirty="0">
                <a:solidFill>
                  <a:schemeClr val="bg1"/>
                </a:solidFill>
              </a:rPr>
              <a:t>Integration with breach databases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2D7421-7D4C-5309-6ECA-545C70E3C28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6AC613-0751-9CF4-F3D0-078DD7D01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10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127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A92A9F-509C-8E44-FC5A-46B6E92AC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99E25-705C-666E-E7DD-BA6D2DE6A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7FE4B-9C35-8E1B-EA2E-ED3015687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Improves password security</a:t>
            </a:r>
          </a:p>
          <a:p>
            <a:r>
              <a:rPr lang="en-US" sz="2800" dirty="0">
                <a:solidFill>
                  <a:schemeClr val="bg1"/>
                </a:solidFill>
              </a:rPr>
              <a:t>Educates users</a:t>
            </a:r>
          </a:p>
          <a:p>
            <a:r>
              <a:rPr lang="en-US" sz="2800" dirty="0">
                <a:solidFill>
                  <a:schemeClr val="bg1"/>
                </a:solidFill>
              </a:rPr>
              <a:t>Privacy-focused design</a:t>
            </a:r>
          </a:p>
          <a:p>
            <a:r>
              <a:rPr lang="en-US" sz="2800" dirty="0">
                <a:solidFill>
                  <a:schemeClr val="bg1"/>
                </a:solidFill>
              </a:rPr>
              <a:t>Real-world ready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179125-D970-0138-B82D-20F53209D18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DB25E2-FE1A-270A-FF92-C939D4439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11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3864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39E31A-F3C7-85E4-A7AA-96B10849F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1713B-F19B-15FF-6D60-B1A303CED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5604" y="3024051"/>
            <a:ext cx="3720792" cy="809898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Questions?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9D3EEB-EBD4-FF9B-7631-EDF60ECD75B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2E90B7-F8DE-9E60-C392-08DF92C2A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12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1883846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6800</TotalTime>
  <Words>750</Words>
  <Application>Microsoft Office PowerPoint</Application>
  <PresentationFormat>Widescreen</PresentationFormat>
  <Paragraphs>104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Amasis MT Pro Black</vt:lpstr>
      <vt:lpstr>Aptos</vt:lpstr>
      <vt:lpstr>Arial</vt:lpstr>
      <vt:lpstr>Neue Haas Grotesk Text Pro</vt:lpstr>
      <vt:lpstr>Wingdings</vt:lpstr>
      <vt:lpstr>VanillaVTI</vt:lpstr>
      <vt:lpstr>SecurePass</vt:lpstr>
      <vt:lpstr>Statement of Purpose</vt:lpstr>
      <vt:lpstr>My “Why”</vt:lpstr>
      <vt:lpstr>Honors Component</vt:lpstr>
      <vt:lpstr>Live Demo</vt:lpstr>
      <vt:lpstr>Implementation</vt:lpstr>
      <vt:lpstr>Key Features</vt:lpstr>
      <vt:lpstr>Challenges Overcome</vt:lpstr>
      <vt:lpstr>Test Results</vt:lpstr>
      <vt:lpstr>Future Enhancements</vt:lpstr>
      <vt:lpstr>Conclusion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Whitney Carpenter</dc:creator>
  <cp:lastModifiedBy>Whitney Carpenter</cp:lastModifiedBy>
  <cp:revision>20</cp:revision>
  <dcterms:created xsi:type="dcterms:W3CDTF">2026-04-10T03:43:45Z</dcterms:created>
  <dcterms:modified xsi:type="dcterms:W3CDTF">2026-04-20T05:11:29Z</dcterms:modified>
</cp:coreProperties>
</file>